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8" r:id="rId13"/>
    <p:sldId id="269" r:id="rId14"/>
    <p:sldId id="270" r:id="rId15"/>
    <p:sldId id="271" r:id="rId16"/>
    <p:sldId id="273" r:id="rId17"/>
    <p:sldId id="274" r:id="rId18"/>
    <p:sldId id="272" r:id="rId19"/>
    <p:sldId id="275" r:id="rId20"/>
    <p:sldId id="276" r:id="rId21"/>
    <p:sldId id="26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3" r:id="rId32"/>
    <p:sldId id="288" r:id="rId33"/>
    <p:sldId id="289" r:id="rId34"/>
    <p:sldId id="290" r:id="rId35"/>
    <p:sldId id="291" r:id="rId36"/>
    <p:sldId id="292" r:id="rId37"/>
    <p:sldId id="277" r:id="rId38"/>
    <p:sldId id="293" r:id="rId39"/>
    <p:sldId id="294" r:id="rId40"/>
    <p:sldId id="295" r:id="rId41"/>
    <p:sldId id="297" r:id="rId42"/>
    <p:sldId id="298" r:id="rId43"/>
    <p:sldId id="299" r:id="rId44"/>
    <p:sldId id="301" r:id="rId45"/>
    <p:sldId id="302" r:id="rId46"/>
    <p:sldId id="300" r:id="rId47"/>
    <p:sldId id="304" r:id="rId48"/>
    <p:sldId id="305" r:id="rId49"/>
    <p:sldId id="303" r:id="rId50"/>
    <p:sldId id="306" r:id="rId51"/>
    <p:sldId id="296" r:id="rId52"/>
    <p:sldId id="307" r:id="rId53"/>
    <p:sldId id="308" r:id="rId54"/>
    <p:sldId id="309" r:id="rId55"/>
    <p:sldId id="311" r:id="rId56"/>
    <p:sldId id="310" r:id="rId57"/>
    <p:sldId id="31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39A3-62E7-7826-7844-1D7DE7B24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0F086-9794-1534-E42E-C39120700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15C2D-7509-13AE-B805-4548D4DB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E9427-1677-025A-5EA4-C9451DA0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D9424-D40E-9C31-933D-77C6F70A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8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8377-6865-7CEB-639F-C2B97067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A692-EE4F-307A-7A2C-76F2B490F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7A3A3-9F12-36AD-50FB-497C19A8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4ABF-C753-0C12-F7A0-4A8FD6DD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D4F8C-8F7B-B7CB-42A7-EB0A8268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7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9257-0EC8-8A70-DDB1-C9A191C78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DDE23-D5EE-3763-D3BF-2A0AFE3F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73952-CC60-3AA0-6F66-DED981AE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F8277-851F-8C0A-B7DA-DD9D6750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BA73E-3FCF-5ACB-B7ED-CCF44078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6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0100-4CA0-57D9-27C7-86BF9C9A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0A7D-452D-14C4-D5A5-74ADD9E68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57BDE-BE63-D2BA-9400-E786F5D44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BB803-58F9-7CCF-3FE9-DCDC0E12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77D37-8B5B-B9F0-73D2-C261115C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5360F-43F9-EFA9-3C79-7153443E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5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3DEB-2254-6AA6-21E6-FDF7EA75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0F58-BB62-F78E-BCDC-6295C5E33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63AAF-CF27-CC79-61C0-F1F5CEEE1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C5952-FD08-0074-2445-826ED46D9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255C6-40BA-09AD-0DB4-B3282608D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128DA-D21F-F316-809C-AB690A33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D9C0A-0B6B-E456-3ED2-07722AC6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FD61BB-053E-0CEB-82CF-5E811FF9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7D22-AC57-2561-5FC8-2FDF5FBC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D93EA-E32B-3A7C-56CB-2BBE74CE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E4545-754A-1DC5-11BE-AC846487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CFFA9-DDC4-1ED1-F689-1C7CA74F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1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B073B-D886-B8E1-BE11-E81BB24D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74348-4462-2804-5EE3-8439A1A2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A5B7C-266D-0066-D78B-109BC450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8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7932-477D-EE97-8C1C-3B8FB84E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3801A-BD78-B772-80BD-3666FC9A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5CD72-E0EC-51CB-7F63-7D1E3D43E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D2BE4-5C49-682A-BB2D-79F8D63C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AD1D6-3D05-288E-872D-041A3EEA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1486B-9BB6-EB30-2899-470F74D58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8E31-D9E6-5767-4DD5-2C5077F22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F76FA-491A-5C05-68A3-DDBBDA211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6C048-8F74-6E1E-661A-4C751941F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71107-462B-57B9-EECD-0DD1E45E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A9101-CFC1-70A2-B86A-12A4B4A0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06D85-AC60-90A0-0536-0DCEEF17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6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24630-BE2C-58A2-0765-4647A0DE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93DF5-C3F8-F058-EF2B-B21CC0633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DB1DD-CC47-9EA7-E6E5-6109A4CD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D727E-79E8-61F6-E90C-76D9968C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8522F-B2DB-7ECC-6690-A8050000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7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00B56-9524-A2AE-CF03-46092A197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1DCB5-55BC-F3A3-4E87-271A946B6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FA614-13B9-6E78-BB55-FC2C7523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322F7-2CF5-EE99-3223-A5BA6F83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D13CD-C48E-7605-8A60-EA84A86B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1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0F968-B075-F187-738A-7D5E5FC1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858D3-3BDF-774D-0FD4-AFF86720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60227-2AF1-9189-F69B-D4B5D0350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1FE6D-94AF-44D3-BD4B-777CA6315DCD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12D6-ABCC-36CB-2FA6-58A287DAF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FB8FC-FA4B-BAE4-485E-E9C518FB3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6063D-C486-4F3A-9046-8A1DEDAE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00B050"/>
                </a:solidFill>
                <a:latin typeface="Consolas" panose="020B0609020204030204" pitchFamily="49" charset="0"/>
              </a:rPr>
              <a:t>Web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22754-B554-10FF-3226-991B9EC85FA2}"/>
              </a:ext>
            </a:extLst>
          </p:cNvPr>
          <p:cNvSpPr txBox="1"/>
          <p:nvPr/>
        </p:nvSpPr>
        <p:spPr>
          <a:xfrm>
            <a:off x="1009289" y="3652290"/>
            <a:ext cx="9946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Let’s build a web app from scratch!!</a:t>
            </a: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Course title: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BBA3A-FBBB-E66A-C1C1-6F56FC4F858F}"/>
              </a:ext>
            </a:extLst>
          </p:cNvPr>
          <p:cNvSpPr txBox="1"/>
          <p:nvPr/>
        </p:nvSpPr>
        <p:spPr>
          <a:xfrm>
            <a:off x="1009289" y="5355899"/>
            <a:ext cx="9946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Farhan Daemi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40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Front-end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Question 1: What is…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2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Back-end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Question 2: What is…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1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Question 3: What is…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15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Question 4: What is…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03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Question 5: What is…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051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1EB43-10BB-232E-23AB-57B8F6D57953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IP-Address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B3DBD-D76C-DE38-1D34-F750B27D7155}"/>
              </a:ext>
            </a:extLst>
          </p:cNvPr>
          <p:cNvSpPr txBox="1"/>
          <p:nvPr/>
        </p:nvSpPr>
        <p:spPr>
          <a:xfrm>
            <a:off x="1009289" y="1530171"/>
            <a:ext cx="994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Mini challenge: Find your local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5283A-DC89-06BD-6A01-145E76C6798F}"/>
              </a:ext>
            </a:extLst>
          </p:cNvPr>
          <p:cNvSpPr txBox="1"/>
          <p:nvPr/>
        </p:nvSpPr>
        <p:spPr>
          <a:xfrm>
            <a:off x="1009289" y="4463173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You can use </a:t>
            </a:r>
            <a:r>
              <a:rPr lang="en-US" sz="2800" b="1" dirty="0">
                <a:solidFill>
                  <a:srgbClr val="00B0F0"/>
                </a:solidFill>
                <a:latin typeface="Consolas" panose="020B0609020204030204" pitchFamily="49" charset="0"/>
              </a:rPr>
              <a:t>ipconfig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command in your terminal</a:t>
            </a:r>
            <a:endParaRPr lang="en-US" sz="2800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HTML &lt;/&gt;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1009289" y="4463173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Hyper text markup language</a:t>
            </a:r>
            <a:endParaRPr lang="en-US" sz="2800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6A1D43-996D-D2B6-7111-A77524460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86" y="276045"/>
            <a:ext cx="9524428" cy="630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70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55F6B-19FE-E835-479A-66406BE22C7B}"/>
              </a:ext>
            </a:extLst>
          </p:cNvPr>
          <p:cNvSpPr txBox="1"/>
          <p:nvPr/>
        </p:nvSpPr>
        <p:spPr>
          <a:xfrm>
            <a:off x="1122871" y="934969"/>
            <a:ext cx="9946258" cy="332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&lt;html&gt;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whole HTML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&lt;head&gt;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hidden info about the page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&lt;title&gt;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browser tab title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&lt;body&gt;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visible part of the page</a:t>
            </a:r>
          </a:p>
        </p:txBody>
      </p:sp>
    </p:spTree>
    <p:extLst>
      <p:ext uri="{BB962C8B-B14F-4D97-AF65-F5344CB8AC3E}">
        <p14:creationId xmlns:p14="http://schemas.microsoft.com/office/powerpoint/2010/main" val="154658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1122871" y="589912"/>
            <a:ext cx="99462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&lt;h1&gt; to &lt;h6&gt;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headings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&lt;p&gt;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paragraph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br</a:t>
            </a:r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line break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&lt;strong&gt;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important text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&lt;b&gt;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bold text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em</a:t>
            </a:r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emphasized text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italic text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&lt;span&gt;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small inline text container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&lt;a&gt;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link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img</a:t>
            </a:r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image</a:t>
            </a:r>
          </a:p>
        </p:txBody>
      </p:sp>
    </p:spTree>
    <p:extLst>
      <p:ext uri="{BB962C8B-B14F-4D97-AF65-F5344CB8AC3E}">
        <p14:creationId xmlns:p14="http://schemas.microsoft.com/office/powerpoint/2010/main" val="385665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1122871" y="589912"/>
            <a:ext cx="99462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ul</a:t>
            </a:r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unordered list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&lt;li&gt;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list item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&lt;div&gt;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 — block container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&lt;section&gt;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section of a page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&lt;header&gt;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top area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&lt;footer&gt;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 — bottom area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&lt;nav&gt;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navigation menu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&lt;main&gt;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main content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B050"/>
                </a:solidFill>
                <a:latin typeface="Consolas" panose="020B0609020204030204" pitchFamily="49" charset="0"/>
              </a:rPr>
              <a:t>&lt;article&gt; </a:t>
            </a:r>
            <a:r>
              <a:rPr lang="en-US" sz="3600" dirty="0">
                <a:solidFill>
                  <a:schemeClr val="bg1"/>
                </a:solidFill>
                <a:latin typeface="Consolas" panose="020B0609020204030204" pitchFamily="49" charset="0"/>
              </a:rPr>
              <a:t>— independent content</a:t>
            </a:r>
            <a:endParaRPr lang="fa-IR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08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0E402-B9A4-6542-D1AB-81962A05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67" y="1509623"/>
            <a:ext cx="9133466" cy="50809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E942D7-0E7F-C426-78E9-670D71EFDA5F}"/>
              </a:ext>
            </a:extLst>
          </p:cNvPr>
          <p:cNvSpPr txBox="1"/>
          <p:nvPr/>
        </p:nvSpPr>
        <p:spPr>
          <a:xfrm>
            <a:off x="1122871" y="633024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Practice 1: build this web page using HTML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572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1122871" y="589912"/>
            <a:ext cx="9946258" cy="581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&lt;form&gt;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form container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&lt;input&gt;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input field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&lt;label&gt;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text label for input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&lt;button&gt;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button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textarea</a:t>
            </a: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large text input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&lt;select&gt;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dropdown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&lt;option&gt;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dropdown option</a:t>
            </a:r>
            <a:endParaRPr lang="fa-IR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17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1122871" y="589912"/>
            <a:ext cx="9946258" cy="440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&lt;table&gt; </a:t>
            </a:r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— table</a:t>
            </a:r>
          </a:p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&lt;tr&gt; </a:t>
            </a:r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— table row</a:t>
            </a:r>
          </a:p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&lt;</a:t>
            </a:r>
            <a:r>
              <a:rPr lang="en-US" sz="48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th</a:t>
            </a:r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&gt; </a:t>
            </a:r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— table header</a:t>
            </a:r>
          </a:p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&lt;td&gt; </a:t>
            </a:r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— table cell</a:t>
            </a:r>
            <a:endParaRPr lang="fa-IR" sz="4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19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009289" y="2073396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50"/>
                </a:solidFill>
                <a:latin typeface="Consolas" panose="020B0609020204030204" pitchFamily="49" charset="0"/>
              </a:rPr>
              <a:t>CSS &lt;/&gt;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1009289" y="4463173"/>
            <a:ext cx="994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Cascading Style Sheet</a:t>
            </a:r>
          </a:p>
        </p:txBody>
      </p:sp>
    </p:spTree>
    <p:extLst>
      <p:ext uri="{BB962C8B-B14F-4D97-AF65-F5344CB8AC3E}">
        <p14:creationId xmlns:p14="http://schemas.microsoft.com/office/powerpoint/2010/main" val="279835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A0653-C518-A09F-9587-35757998D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20" y="719435"/>
            <a:ext cx="8890960" cy="54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2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1122871" y="589912"/>
            <a:ext cx="9946258" cy="581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color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text color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font-size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text size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font-family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font type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font-weight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boldness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text-align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left, center, right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text-decoration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underline, none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line-height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— line spacing</a:t>
            </a:r>
            <a:endParaRPr lang="fa-IR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2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854015" y="589912"/>
            <a:ext cx="10483970" cy="332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background color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background-image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background picture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background-size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size of background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background-position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background position</a:t>
            </a:r>
            <a:endParaRPr lang="fa-IR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5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854015" y="589912"/>
            <a:ext cx="10483970" cy="498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width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width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height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margin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outer space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padding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inner space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border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border around element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border-radius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rounded corners</a:t>
            </a:r>
            <a:endParaRPr lang="fa-IR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77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432DD-D143-EB0C-6850-3E87D3D7D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695" y="457199"/>
            <a:ext cx="7862610" cy="594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00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B56027-F8CF-08B4-544C-131D29F22A5D}"/>
              </a:ext>
            </a:extLst>
          </p:cNvPr>
          <p:cNvSpPr txBox="1"/>
          <p:nvPr/>
        </p:nvSpPr>
        <p:spPr>
          <a:xfrm>
            <a:off x="854015" y="381787"/>
            <a:ext cx="10483970" cy="609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display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how an element behaves</a:t>
            </a:r>
          </a:p>
          <a:p>
            <a:r>
              <a:rPr lang="en-US" sz="3600" b="1" dirty="0">
                <a:solidFill>
                  <a:srgbClr val="00B0F0"/>
                </a:solidFill>
                <a:latin typeface="Consolas" panose="020B0609020204030204" pitchFamily="49" charset="0"/>
              </a:rPr>
              <a:t>Block</a:t>
            </a:r>
          </a:p>
          <a:p>
            <a:r>
              <a:rPr lang="en-US" sz="3600" b="1" dirty="0">
                <a:solidFill>
                  <a:srgbClr val="00B0F0"/>
                </a:solidFill>
                <a:latin typeface="Consolas" panose="020B0609020204030204" pitchFamily="49" charset="0"/>
              </a:rPr>
              <a:t>Inline</a:t>
            </a:r>
          </a:p>
          <a:p>
            <a:r>
              <a:rPr lang="en-US" sz="3600" b="1" dirty="0">
                <a:solidFill>
                  <a:srgbClr val="00B0F0"/>
                </a:solidFill>
                <a:latin typeface="Consolas" panose="020B0609020204030204" pitchFamily="49" charset="0"/>
              </a:rPr>
              <a:t>inline-block</a:t>
            </a:r>
          </a:p>
          <a:p>
            <a:r>
              <a:rPr lang="en-US" sz="3600" b="1" dirty="0">
                <a:solidFill>
                  <a:srgbClr val="00B0F0"/>
                </a:solidFill>
                <a:latin typeface="Consolas" panose="020B0609020204030204" pitchFamily="49" charset="0"/>
              </a:rPr>
              <a:t>Flex</a:t>
            </a:r>
          </a:p>
          <a:p>
            <a:r>
              <a:rPr lang="en-US" sz="3600" b="1" dirty="0">
                <a:solidFill>
                  <a:srgbClr val="00B0F0"/>
                </a:solidFill>
                <a:latin typeface="Consolas" panose="020B0609020204030204" pitchFamily="49" charset="0"/>
              </a:rPr>
              <a:t>Grid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position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positioning method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F0"/>
                </a:solidFill>
                <a:latin typeface="Consolas" panose="020B0609020204030204" pitchFamily="49" charset="0"/>
              </a:rPr>
              <a:t>top, right, bottom, left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  <a:latin typeface="Consolas" panose="020B0609020204030204" pitchFamily="49" charset="0"/>
              </a:rPr>
              <a:t>z-index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— layer order</a:t>
            </a:r>
            <a:endParaRPr lang="fa-IR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45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E942D7-0E7F-C426-78E9-670D71EFDA5F}"/>
              </a:ext>
            </a:extLst>
          </p:cNvPr>
          <p:cNvSpPr txBox="1"/>
          <p:nvPr/>
        </p:nvSpPr>
        <p:spPr>
          <a:xfrm>
            <a:off x="1122871" y="555516"/>
            <a:ext cx="9946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Practice 2: Make your HTML code beautiful with CSS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08242-7484-E018-334A-D4A837F42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69" y="1483744"/>
            <a:ext cx="8620662" cy="489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25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2047517"/>
            <a:ext cx="1029994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00B050"/>
                </a:solidFill>
                <a:latin typeface="Consolas" panose="020B0609020204030204" pitchFamily="49" charset="0"/>
              </a:rPr>
              <a:t>Node.js &lt;/&gt;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4463173"/>
            <a:ext cx="102999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 tool that allows us to run JavaScript outside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24234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658665"/>
            <a:ext cx="1029994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00B050"/>
                </a:solidFill>
                <a:latin typeface="Consolas" panose="020B0609020204030204" pitchFamily="49" charset="0"/>
              </a:rPr>
              <a:t>With Node.js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2951946"/>
            <a:ext cx="10299942" cy="2608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JavaScript can create servers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JavaScript can work with files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JavaScript can connect to databases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JavaScript can build backend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8820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946029" y="2047275"/>
            <a:ext cx="10299942" cy="276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So instead of only making webpages, we can now build full applications using JavaScript.</a:t>
            </a:r>
          </a:p>
        </p:txBody>
      </p:sp>
    </p:spTree>
    <p:extLst>
      <p:ext uri="{BB962C8B-B14F-4D97-AF65-F5344CB8AC3E}">
        <p14:creationId xmlns:p14="http://schemas.microsoft.com/office/powerpoint/2010/main" val="279866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658665"/>
            <a:ext cx="10299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B050"/>
                </a:solidFill>
                <a:latin typeface="Consolas" panose="020B0609020204030204" pitchFamily="49" charset="0"/>
              </a:rPr>
              <a:t>Why is Node.js used?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2210074"/>
            <a:ext cx="10299942" cy="3901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Node.js is popular because it is: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Fast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Easy to learn for web developers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Great for web servers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Good for real-time apps like chats and games</a:t>
            </a:r>
          </a:p>
        </p:txBody>
      </p:sp>
    </p:spTree>
    <p:extLst>
      <p:ext uri="{BB962C8B-B14F-4D97-AF65-F5344CB8AC3E}">
        <p14:creationId xmlns:p14="http://schemas.microsoft.com/office/powerpoint/2010/main" val="71275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658665"/>
            <a:ext cx="102999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  <a:latin typeface="Consolas" panose="020B0609020204030204" pitchFamily="49" charset="0"/>
              </a:rPr>
              <a:t>How does Node.js run JavaScript outside the browser?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2210074"/>
            <a:ext cx="10299942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Normally The browser has a JavaScript engine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Node.js includes its own JavaScript engine called: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CF307-8137-99D3-66D7-5E01B47265B2}"/>
              </a:ext>
            </a:extLst>
          </p:cNvPr>
          <p:cNvSpPr txBox="1"/>
          <p:nvPr/>
        </p:nvSpPr>
        <p:spPr>
          <a:xfrm>
            <a:off x="832447" y="3429000"/>
            <a:ext cx="102999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00B0F0"/>
                </a:solidFill>
                <a:latin typeface="Consolas" panose="020B0609020204030204" pitchFamily="49" charset="0"/>
              </a:rPr>
              <a:t>V8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3CAB8-AF9D-F526-116E-AC2750E87740}"/>
              </a:ext>
            </a:extLst>
          </p:cNvPr>
          <p:cNvSpPr txBox="1"/>
          <p:nvPr/>
        </p:nvSpPr>
        <p:spPr>
          <a:xfrm>
            <a:off x="832447" y="5529921"/>
            <a:ext cx="1029994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the same engine used in Google Chrome</a:t>
            </a:r>
          </a:p>
        </p:txBody>
      </p:sp>
    </p:spTree>
    <p:extLst>
      <p:ext uri="{BB962C8B-B14F-4D97-AF65-F5344CB8AC3E}">
        <p14:creationId xmlns:p14="http://schemas.microsoft.com/office/powerpoint/2010/main" val="320817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946029" y="2047275"/>
            <a:ext cx="10299942" cy="276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This means Node.js can run JavaScript directly on your computer without needing a browser.</a:t>
            </a:r>
          </a:p>
        </p:txBody>
      </p:sp>
    </p:spTree>
    <p:extLst>
      <p:ext uri="{BB962C8B-B14F-4D97-AF65-F5344CB8AC3E}">
        <p14:creationId xmlns:p14="http://schemas.microsoft.com/office/powerpoint/2010/main" val="293599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E942D7-0E7F-C426-78E9-670D71EFDA5F}"/>
              </a:ext>
            </a:extLst>
          </p:cNvPr>
          <p:cNvSpPr txBox="1"/>
          <p:nvPr/>
        </p:nvSpPr>
        <p:spPr>
          <a:xfrm>
            <a:off x="1616015" y="633024"/>
            <a:ext cx="8959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First Node.js 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5E9D8-1106-4A4C-E191-EBA3D36F8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15" y="1373432"/>
            <a:ext cx="8959970" cy="53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96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E2D4E-0605-4E68-2843-C6C214FC0068}"/>
              </a:ext>
            </a:extLst>
          </p:cNvPr>
          <p:cNvSpPr txBox="1"/>
          <p:nvPr/>
        </p:nvSpPr>
        <p:spPr>
          <a:xfrm>
            <a:off x="832447" y="658665"/>
            <a:ext cx="4421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Front-end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7CAF3-9F8C-0F08-EA46-782EA10D1602}"/>
              </a:ext>
            </a:extLst>
          </p:cNvPr>
          <p:cNvSpPr txBox="1"/>
          <p:nvPr/>
        </p:nvSpPr>
        <p:spPr>
          <a:xfrm>
            <a:off x="6758794" y="658665"/>
            <a:ext cx="4421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Back-end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9B2DF-7443-B224-A87B-028023FB6C10}"/>
              </a:ext>
            </a:extLst>
          </p:cNvPr>
          <p:cNvSpPr txBox="1"/>
          <p:nvPr/>
        </p:nvSpPr>
        <p:spPr>
          <a:xfrm>
            <a:off x="832447" y="2210074"/>
            <a:ext cx="4421040" cy="22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What users see: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HTML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Browser JavaScript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3A05-31CB-4A50-AAE6-02FE6506247E}"/>
              </a:ext>
            </a:extLst>
          </p:cNvPr>
          <p:cNvSpPr txBox="1"/>
          <p:nvPr/>
        </p:nvSpPr>
        <p:spPr>
          <a:xfrm>
            <a:off x="6758794" y="2210074"/>
            <a:ext cx="4421040" cy="2803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What runs on the server: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Databases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Authentication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APIs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Server logic</a:t>
            </a:r>
          </a:p>
        </p:txBody>
      </p:sp>
    </p:spTree>
    <p:extLst>
      <p:ext uri="{BB962C8B-B14F-4D97-AF65-F5344CB8AC3E}">
        <p14:creationId xmlns:p14="http://schemas.microsoft.com/office/powerpoint/2010/main" val="135697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E2D4E-0605-4E68-2843-C6C214FC0068}"/>
              </a:ext>
            </a:extLst>
          </p:cNvPr>
          <p:cNvSpPr txBox="1"/>
          <p:nvPr/>
        </p:nvSpPr>
        <p:spPr>
          <a:xfrm>
            <a:off x="1048108" y="2003585"/>
            <a:ext cx="4421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Front-end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7CAF3-9F8C-0F08-EA46-782EA10D1602}"/>
              </a:ext>
            </a:extLst>
          </p:cNvPr>
          <p:cNvSpPr txBox="1"/>
          <p:nvPr/>
        </p:nvSpPr>
        <p:spPr>
          <a:xfrm>
            <a:off x="6974455" y="2003585"/>
            <a:ext cx="4421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Back-end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9B2DF-7443-B224-A87B-028023FB6C10}"/>
              </a:ext>
            </a:extLst>
          </p:cNvPr>
          <p:cNvSpPr txBox="1"/>
          <p:nvPr/>
        </p:nvSpPr>
        <p:spPr>
          <a:xfrm>
            <a:off x="1048108" y="3089968"/>
            <a:ext cx="4421040" cy="22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The dining area: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Tables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Menu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Decorations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3A05-31CB-4A50-AAE6-02FE6506247E}"/>
              </a:ext>
            </a:extLst>
          </p:cNvPr>
          <p:cNvSpPr txBox="1"/>
          <p:nvPr/>
        </p:nvSpPr>
        <p:spPr>
          <a:xfrm>
            <a:off x="6974455" y="3089968"/>
            <a:ext cx="4421040" cy="22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The kitchen: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Cooking food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Preparing orders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Managing ingredients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BEE78-2FF7-583F-C533-EECE1828F672}"/>
              </a:ext>
            </a:extLst>
          </p:cNvPr>
          <p:cNvSpPr txBox="1"/>
          <p:nvPr/>
        </p:nvSpPr>
        <p:spPr>
          <a:xfrm>
            <a:off x="1048107" y="677901"/>
            <a:ext cx="10347387" cy="108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B0F0"/>
                </a:solidFill>
                <a:latin typeface="Consolas" panose="020B0609020204030204" pitchFamily="49" charset="0"/>
              </a:rPr>
              <a:t>Imagine a restaurant:</a:t>
            </a:r>
          </a:p>
        </p:txBody>
      </p:sp>
    </p:spTree>
    <p:extLst>
      <p:ext uri="{BB962C8B-B14F-4D97-AF65-F5344CB8AC3E}">
        <p14:creationId xmlns:p14="http://schemas.microsoft.com/office/powerpoint/2010/main" val="321294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2047517"/>
            <a:ext cx="1029994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00B050"/>
                </a:solidFill>
                <a:latin typeface="Consolas" panose="020B0609020204030204" pitchFamily="49" charset="0"/>
              </a:rPr>
              <a:t>npm &lt;/&gt;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4463173"/>
            <a:ext cx="10299942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Node Package Manager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66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529269"/>
            <a:ext cx="1029994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00B050"/>
                </a:solidFill>
                <a:latin typeface="Consolas" panose="020B0609020204030204" pitchFamily="49" charset="0"/>
              </a:rPr>
              <a:t>What is npm?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2587708"/>
            <a:ext cx="10299942" cy="246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Think of npm like the 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App Store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or </a:t>
            </a:r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Google Play Store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on your phone: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Instead of downloading games or apps, developers use npm to download pre-written code.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It comes automatically installed when you install Node.js.</a:t>
            </a:r>
          </a:p>
        </p:txBody>
      </p:sp>
    </p:spTree>
    <p:extLst>
      <p:ext uri="{BB962C8B-B14F-4D97-AF65-F5344CB8AC3E}">
        <p14:creationId xmlns:p14="http://schemas.microsoft.com/office/powerpoint/2010/main" val="21379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529269"/>
            <a:ext cx="10299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00B050"/>
                </a:solidFill>
                <a:latin typeface="Consolas" panose="020B0609020204030204" pitchFamily="49" charset="0"/>
              </a:rPr>
              <a:t>What is a Package?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2121882"/>
            <a:ext cx="10299942" cy="368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 package (also called a </a:t>
            </a:r>
            <a:r>
              <a:rPr lang="en-US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module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or </a:t>
            </a:r>
            <a:r>
              <a:rPr lang="en-US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library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 is code written by other programmers that you can freely use in your own projects so…</a:t>
            </a:r>
          </a:p>
          <a:p>
            <a:pPr>
              <a:lnSpc>
                <a:spcPct val="200000"/>
              </a:lnSpc>
            </a:pP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you don’t have to build everything from scratch!</a:t>
            </a:r>
          </a:p>
        </p:txBody>
      </p:sp>
    </p:spTree>
    <p:extLst>
      <p:ext uri="{BB962C8B-B14F-4D97-AF65-F5344CB8AC3E}">
        <p14:creationId xmlns:p14="http://schemas.microsoft.com/office/powerpoint/2010/main" val="423944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584960" y="529269"/>
            <a:ext cx="8876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Package.json</a:t>
            </a:r>
            <a:endParaRPr lang="en-US" sz="54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D72D3-DAAB-6448-C6ED-FD11FC9FA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589044"/>
            <a:ext cx="9022080" cy="49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95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7D33A-5038-1FF3-0429-51F0AB82A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1554711"/>
            <a:ext cx="11562080" cy="342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5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442D1-82A3-1641-F6B7-0ED655920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533982"/>
            <a:ext cx="11623040" cy="579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53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26BA2-26DA-ED3B-11F9-15430928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10" y="843279"/>
            <a:ext cx="11539580" cy="517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70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6A31A-7D88-CCEB-295F-07AE67AC1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41" y="1564640"/>
            <a:ext cx="11929718" cy="3728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CB7EA6-7B41-0C99-5ACD-8A24E9E13ADF}"/>
              </a:ext>
            </a:extLst>
          </p:cNvPr>
          <p:cNvSpPr txBox="1"/>
          <p:nvPr/>
        </p:nvSpPr>
        <p:spPr>
          <a:xfrm>
            <a:off x="324650" y="697756"/>
            <a:ext cx="11542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Practice 3: install </a:t>
            </a:r>
            <a:r>
              <a:rPr lang="en-US" sz="28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figlet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using npm and run this code!!</a:t>
            </a:r>
          </a:p>
          <a:p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980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2394827"/>
            <a:ext cx="10299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00B050"/>
                </a:solidFill>
                <a:latin typeface="Consolas" panose="020B0609020204030204" pitchFamily="49" charset="0"/>
              </a:rPr>
              <a:t>Express.js &lt;/&gt;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4463173"/>
            <a:ext cx="1029994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 Node.js package that helps us create web servers</a:t>
            </a:r>
          </a:p>
        </p:txBody>
      </p:sp>
    </p:spTree>
    <p:extLst>
      <p:ext uri="{BB962C8B-B14F-4D97-AF65-F5344CB8AC3E}">
        <p14:creationId xmlns:p14="http://schemas.microsoft.com/office/powerpoint/2010/main" val="86529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584960" y="529269"/>
            <a:ext cx="8876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Install Express.js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2897D-E597-B670-868F-42942BCE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13" y="2326639"/>
            <a:ext cx="11340374" cy="220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81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584960" y="529269"/>
            <a:ext cx="8876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Write the server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98C30-535B-6ADF-D746-44BCBFA12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52" y="1584959"/>
            <a:ext cx="10460412" cy="517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039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584960" y="529269"/>
            <a:ext cx="8876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Open in your browser: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907550-4590-BF13-75E8-81AC3DEFF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0" y="2580640"/>
            <a:ext cx="11704720" cy="169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871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584960" y="529269"/>
            <a:ext cx="8876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Add a second page: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BF896-0590-AFF3-0231-2D4B1FF2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" y="1645778"/>
            <a:ext cx="11633202" cy="2326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EAC143-4421-5789-BD1E-2059B537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5" y="4165599"/>
            <a:ext cx="11214186" cy="224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82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D11210-3EE6-B8AF-E14B-3675ED1C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62" y="193040"/>
            <a:ext cx="10565676" cy="64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637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1584960" y="529269"/>
            <a:ext cx="8876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Add HTML response: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26BE9-D412-09A2-835A-36CFA154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86" y="2062480"/>
            <a:ext cx="11447828" cy="273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341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901307"/>
            <a:ext cx="1029994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rgbClr val="00B050"/>
                </a:solidFill>
                <a:latin typeface="Consolas" panose="020B0609020204030204" pitchFamily="49" charset="0"/>
              </a:rPr>
              <a:t>EJS &lt;/&gt;</a:t>
            </a:r>
          </a:p>
          <a:p>
            <a:r>
              <a:rPr lang="en-US" sz="4400" b="1" dirty="0">
                <a:solidFill>
                  <a:srgbClr val="00B050"/>
                </a:solidFill>
                <a:latin typeface="Consolas" panose="020B0609020204030204" pitchFamily="49" charset="0"/>
              </a:rPr>
              <a:t>Template Engine</a:t>
            </a:r>
            <a:endParaRPr lang="en-US" sz="40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4463173"/>
            <a:ext cx="10299942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a template engine that lets you embed JavaScript code directly inside HTML files</a:t>
            </a:r>
          </a:p>
        </p:txBody>
      </p:sp>
    </p:spTree>
    <p:extLst>
      <p:ext uri="{BB962C8B-B14F-4D97-AF65-F5344CB8AC3E}">
        <p14:creationId xmlns:p14="http://schemas.microsoft.com/office/powerpoint/2010/main" val="24503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9B7F61-5D88-4223-C0A8-DDD4478A8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270" y="342137"/>
            <a:ext cx="2821228" cy="61737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6FBA02-F517-87A3-2611-79AAEBE4B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77" y="342137"/>
            <a:ext cx="2816246" cy="6173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C262D-D67C-B69A-40E0-E21E37AA7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502" y="342137"/>
            <a:ext cx="2838812" cy="617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37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9B7F61-5D88-4223-C0A8-DDD4478A8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21" y="2418080"/>
            <a:ext cx="1843210" cy="4033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6FBA02-F517-87A3-2611-79AAEBE4B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702" y="2418080"/>
            <a:ext cx="1839956" cy="4033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C262D-D67C-B69A-40E0-E21E37AA7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639" y="2418080"/>
            <a:ext cx="1854700" cy="4033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7BA44-4F9D-3855-55DB-AB0E3DEDF44A}"/>
              </a:ext>
            </a:extLst>
          </p:cNvPr>
          <p:cNvSpPr txBox="1"/>
          <p:nvPr/>
        </p:nvSpPr>
        <p:spPr>
          <a:xfrm>
            <a:off x="603169" y="1435493"/>
            <a:ext cx="2916593" cy="66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headphone.HTML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0CE9B-1FE0-F66C-FDFA-EDDE4587E9D1}"/>
              </a:ext>
            </a:extLst>
          </p:cNvPr>
          <p:cNvSpPr txBox="1"/>
          <p:nvPr/>
        </p:nvSpPr>
        <p:spPr>
          <a:xfrm>
            <a:off x="4658023" y="1435493"/>
            <a:ext cx="2916593" cy="66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phone.HTML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316E9-106C-D2E4-281C-2197EA6B3E9E}"/>
              </a:ext>
            </a:extLst>
          </p:cNvPr>
          <p:cNvSpPr txBox="1"/>
          <p:nvPr/>
        </p:nvSpPr>
        <p:spPr>
          <a:xfrm>
            <a:off x="8910332" y="1435493"/>
            <a:ext cx="2916593" cy="66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keyboard.HTML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07D51-EDDE-4836-0E04-50BF3E1ED8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36" y="237274"/>
            <a:ext cx="1198219" cy="11982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F0C269-6C7B-2676-E54A-5B06B6F21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890" y="237273"/>
            <a:ext cx="1198219" cy="1198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61C192-F524-E776-8E86-CEE999BEFD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518" y="237273"/>
            <a:ext cx="1198219" cy="119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2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3E796-88AF-2444-737F-8D7E0B3E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62" y="1696719"/>
            <a:ext cx="11903876" cy="346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380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980DBF-27B0-4DE3-4F8F-D0E9E625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27" y="558799"/>
            <a:ext cx="11545546" cy="574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030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0E00D-FF6A-DC25-E6BB-6D3D3CCC63A7}"/>
              </a:ext>
            </a:extLst>
          </p:cNvPr>
          <p:cNvSpPr txBox="1"/>
          <p:nvPr/>
        </p:nvSpPr>
        <p:spPr>
          <a:xfrm>
            <a:off x="1026160" y="529269"/>
            <a:ext cx="9993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Passing data from </a:t>
            </a:r>
            <a:r>
              <a:rPr lang="en-US" sz="4000" b="1" dirty="0">
                <a:solidFill>
                  <a:srgbClr val="00B0F0"/>
                </a:solidFill>
                <a:latin typeface="Consolas" panose="020B0609020204030204" pitchFamily="49" charset="0"/>
              </a:rPr>
              <a:t>server</a:t>
            </a:r>
            <a:r>
              <a:rPr lang="en-US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 to </a:t>
            </a:r>
            <a:r>
              <a:rPr lang="en-US" sz="4000" b="1" dirty="0">
                <a:solidFill>
                  <a:srgbClr val="00B0F0"/>
                </a:solidFill>
                <a:latin typeface="Consolas" panose="020B0609020204030204" pitchFamily="49" charset="0"/>
              </a:rPr>
              <a:t>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7563E-8A37-5C4D-5FFD-705D8F915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" y="1562500"/>
            <a:ext cx="10139680" cy="52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85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581645-F6D0-39B2-D99F-997EF8A3A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359" y="18846"/>
            <a:ext cx="6177282" cy="68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91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97D6-0C0C-2546-C410-ADC2ED2C4768}"/>
              </a:ext>
            </a:extLst>
          </p:cNvPr>
          <p:cNvSpPr txBox="1"/>
          <p:nvPr/>
        </p:nvSpPr>
        <p:spPr>
          <a:xfrm>
            <a:off x="832447" y="901307"/>
            <a:ext cx="1029994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Adding a</a:t>
            </a:r>
          </a:p>
          <a:p>
            <a:r>
              <a:rPr lang="en-US" sz="16600" b="1" dirty="0">
                <a:solidFill>
                  <a:srgbClr val="00B050"/>
                </a:solidFill>
                <a:latin typeface="Consolas" panose="020B0609020204030204" pitchFamily="49" charset="0"/>
              </a:rPr>
              <a:t>Public</a:t>
            </a:r>
            <a:r>
              <a:rPr lang="en-US" sz="5400" b="1" dirty="0">
                <a:solidFill>
                  <a:srgbClr val="00B050"/>
                </a:solidFill>
                <a:latin typeface="Consolas" panose="020B0609020204030204" pitchFamily="49" charset="0"/>
              </a:rPr>
              <a:t> folder</a:t>
            </a:r>
            <a:endParaRPr lang="en-US" sz="12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84-3A3B-9087-6FCD-B17D7B5F2722}"/>
              </a:ext>
            </a:extLst>
          </p:cNvPr>
          <p:cNvSpPr txBox="1"/>
          <p:nvPr/>
        </p:nvSpPr>
        <p:spPr>
          <a:xfrm>
            <a:off x="832447" y="4463173"/>
            <a:ext cx="10299942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The public folder stores files that the browser is allowed to access directly.</a:t>
            </a:r>
          </a:p>
        </p:txBody>
      </p:sp>
    </p:spTree>
    <p:extLst>
      <p:ext uri="{BB962C8B-B14F-4D97-AF65-F5344CB8AC3E}">
        <p14:creationId xmlns:p14="http://schemas.microsoft.com/office/powerpoint/2010/main" val="307201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955F4-83CD-A312-88BF-92F4F2E4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7" y="782319"/>
            <a:ext cx="11815306" cy="529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72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27BBDB-F171-5D39-17C9-87E619D3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5" y="254000"/>
            <a:ext cx="11916050" cy="635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9558FC-6EC8-CF6A-DF5B-85A615311B16}"/>
              </a:ext>
            </a:extLst>
          </p:cNvPr>
          <p:cNvSpPr/>
          <p:nvPr/>
        </p:nvSpPr>
        <p:spPr>
          <a:xfrm>
            <a:off x="416560" y="3220720"/>
            <a:ext cx="5933440" cy="853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69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794</Words>
  <Application>Microsoft Office PowerPoint</Application>
  <PresentationFormat>Widescreen</PresentationFormat>
  <Paragraphs>157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98</cp:revision>
  <dcterms:created xsi:type="dcterms:W3CDTF">2026-08-08T17:19:28Z</dcterms:created>
  <dcterms:modified xsi:type="dcterms:W3CDTF">2026-08-08T19:07:48Z</dcterms:modified>
</cp:coreProperties>
</file>