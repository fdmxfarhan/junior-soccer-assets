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0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717"/>
    <a:srgbClr val="66FFFF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86384" autoAdjust="0"/>
  </p:normalViewPr>
  <p:slideViewPr>
    <p:cSldViewPr snapToGrid="0">
      <p:cViewPr>
        <p:scale>
          <a:sx n="66" d="100"/>
          <a:sy n="66" d="100"/>
        </p:scale>
        <p:origin x="82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460D1-EDB1-43E8-A3EA-BA452F96903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DB347-4ED5-4023-A314-BBC32CC3C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30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</a:t>
            </a:r>
            <a:r>
              <a:rPr lang="en-US" dirty="0" err="1"/>
              <a:t>یعنی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سیستمی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بتونه</a:t>
            </a:r>
            <a:r>
              <a:rPr lang="en-US" dirty="0"/>
              <a:t> </a:t>
            </a:r>
            <a:r>
              <a:rPr lang="en-US" dirty="0" err="1"/>
              <a:t>کاری</a:t>
            </a:r>
            <a:r>
              <a:rPr lang="en-US" dirty="0"/>
              <a:t> </a:t>
            </a:r>
            <a:r>
              <a:rPr lang="en-US" dirty="0" err="1"/>
              <a:t>انجام</a:t>
            </a:r>
            <a:r>
              <a:rPr lang="en-US" dirty="0"/>
              <a:t> </a:t>
            </a:r>
            <a:r>
              <a:rPr lang="en-US" dirty="0" err="1"/>
              <a:t>بده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معمولاً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«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انسانی</a:t>
            </a:r>
            <a:r>
              <a:rPr lang="en-US" dirty="0"/>
              <a:t>» </a:t>
            </a:r>
            <a:r>
              <a:rPr lang="en-US" dirty="0" err="1"/>
              <a:t>داره</a:t>
            </a:r>
            <a:r>
              <a:rPr lang="en-US" dirty="0"/>
              <a:t>: </a:t>
            </a:r>
            <a:r>
              <a:rPr lang="en-US" dirty="0" err="1"/>
              <a:t>تشخیص</a:t>
            </a:r>
            <a:r>
              <a:rPr lang="en-US" dirty="0"/>
              <a:t> </a:t>
            </a:r>
            <a:r>
              <a:rPr lang="en-US" dirty="0" err="1"/>
              <a:t>الگو</a:t>
            </a:r>
            <a:r>
              <a:rPr lang="en-US" dirty="0"/>
              <a:t>، </a:t>
            </a:r>
            <a:r>
              <a:rPr lang="en-US" dirty="0" err="1"/>
              <a:t>تصمیم‌گیری</a:t>
            </a:r>
            <a:r>
              <a:rPr lang="en-US" dirty="0"/>
              <a:t>، </a:t>
            </a:r>
            <a:r>
              <a:rPr lang="en-US" dirty="0" err="1"/>
              <a:t>یادگیری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تجربه</a:t>
            </a:r>
            <a:r>
              <a:rPr lang="en-US" dirty="0"/>
              <a:t>، </a:t>
            </a:r>
            <a:r>
              <a:rPr lang="en-US" dirty="0" err="1"/>
              <a:t>درک</a:t>
            </a:r>
            <a:r>
              <a:rPr lang="en-US" dirty="0"/>
              <a:t> </a:t>
            </a:r>
            <a:r>
              <a:rPr lang="en-US" dirty="0" err="1"/>
              <a:t>زبان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نکته</a:t>
            </a:r>
            <a:r>
              <a:rPr lang="en-US" dirty="0"/>
              <a:t> </a:t>
            </a:r>
            <a:r>
              <a:rPr lang="en-US" dirty="0" err="1"/>
              <a:t>مهم</a:t>
            </a:r>
            <a:r>
              <a:rPr lang="en-US" dirty="0"/>
              <a:t>: AI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تکنولوژی</a:t>
            </a:r>
            <a:r>
              <a:rPr lang="en-US" dirty="0"/>
              <a:t> </a:t>
            </a:r>
            <a:r>
              <a:rPr lang="en-US" dirty="0" err="1"/>
              <a:t>واحد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،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b="1" dirty="0" err="1"/>
              <a:t>حوزه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شامل</a:t>
            </a:r>
            <a:r>
              <a:rPr lang="en-US" dirty="0"/>
              <a:t> </a:t>
            </a:r>
            <a:r>
              <a:rPr lang="en-US" dirty="0" err="1"/>
              <a:t>روش‌های</a:t>
            </a:r>
            <a:r>
              <a:rPr lang="en-US" dirty="0"/>
              <a:t> </a:t>
            </a:r>
            <a:r>
              <a:rPr lang="en-US" dirty="0" err="1"/>
              <a:t>خیلی</a:t>
            </a:r>
            <a:r>
              <a:rPr lang="en-US" dirty="0"/>
              <a:t> </a:t>
            </a:r>
            <a:r>
              <a:rPr lang="en-US" dirty="0" err="1"/>
              <a:t>متفاوتی</a:t>
            </a:r>
            <a:r>
              <a:rPr lang="en-US" dirty="0"/>
              <a:t> </a:t>
            </a:r>
            <a:r>
              <a:rPr lang="en-US" dirty="0" err="1"/>
              <a:t>می‌شه</a:t>
            </a:r>
            <a:r>
              <a:rPr lang="en-US" dirty="0"/>
              <a:t> (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قوانین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 if-else </a:t>
            </a:r>
            <a:r>
              <a:rPr lang="en-US" dirty="0" err="1"/>
              <a:t>گرفته</a:t>
            </a:r>
            <a:r>
              <a:rPr lang="en-US" dirty="0"/>
              <a:t> </a:t>
            </a:r>
            <a:r>
              <a:rPr lang="en-US" dirty="0" err="1"/>
              <a:t>تا</a:t>
            </a:r>
            <a:r>
              <a:rPr lang="en-US" dirty="0"/>
              <a:t> </a:t>
            </a:r>
            <a:r>
              <a:rPr lang="en-US" dirty="0" err="1"/>
              <a:t>شبکه‌های</a:t>
            </a:r>
            <a:r>
              <a:rPr lang="en-US" dirty="0"/>
              <a:t> </a:t>
            </a:r>
            <a:r>
              <a:rPr lang="en-US" dirty="0" err="1"/>
              <a:t>عصبی</a:t>
            </a:r>
            <a:r>
              <a:rPr lang="en-US" dirty="0"/>
              <a:t> </a:t>
            </a:r>
            <a:r>
              <a:rPr lang="en-US" dirty="0" err="1"/>
              <a:t>عظیم</a:t>
            </a:r>
            <a:r>
              <a:rPr lang="en-US" dirty="0"/>
              <a:t>).</a:t>
            </a:r>
          </a:p>
          <a:p>
            <a:pPr lvl="0"/>
            <a:r>
              <a:rPr lang="en-US" dirty="0" err="1"/>
              <a:t>سلسله‌مراتب</a:t>
            </a:r>
            <a:r>
              <a:rPr lang="en-US" dirty="0"/>
              <a:t> </a:t>
            </a:r>
            <a:r>
              <a:rPr lang="en-US" dirty="0" err="1"/>
              <a:t>مفید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تخته</a:t>
            </a:r>
            <a:r>
              <a:rPr lang="en-US" dirty="0"/>
              <a:t>: </a:t>
            </a:r>
            <a:r>
              <a:rPr lang="en-US" b="1" dirty="0" err="1"/>
              <a:t>هوش</a:t>
            </a:r>
            <a:r>
              <a:rPr lang="en-US" b="1" dirty="0"/>
              <a:t> </a:t>
            </a:r>
            <a:r>
              <a:rPr lang="en-US" b="1" dirty="0" err="1"/>
              <a:t>مصنوعی</a:t>
            </a:r>
            <a:r>
              <a:rPr lang="en-US" b="1" dirty="0"/>
              <a:t> (AI) ⊃ </a:t>
            </a:r>
            <a:r>
              <a:rPr lang="en-US" b="1" dirty="0" err="1"/>
              <a:t>یادگیری</a:t>
            </a:r>
            <a:r>
              <a:rPr lang="en-US" b="1" dirty="0"/>
              <a:t> </a:t>
            </a:r>
            <a:r>
              <a:rPr lang="en-US" b="1" dirty="0" err="1"/>
              <a:t>ماشین</a:t>
            </a:r>
            <a:r>
              <a:rPr lang="en-US" b="1" dirty="0"/>
              <a:t> (ML) ⊃ </a:t>
            </a:r>
            <a:r>
              <a:rPr lang="en-US" b="1" dirty="0" err="1"/>
              <a:t>یادگیری</a:t>
            </a:r>
            <a:r>
              <a:rPr lang="en-US" b="1" dirty="0"/>
              <a:t> </a:t>
            </a:r>
            <a:r>
              <a:rPr lang="en-US" b="1" dirty="0" err="1"/>
              <a:t>عمیق</a:t>
            </a:r>
            <a:r>
              <a:rPr lang="en-US" b="1" dirty="0"/>
              <a:t> (Deep Learning) ⊃ </a:t>
            </a:r>
            <a:r>
              <a:rPr lang="en-US" b="1" dirty="0" err="1"/>
              <a:t>مدل‌های</a:t>
            </a:r>
            <a:r>
              <a:rPr lang="en-US" b="1" dirty="0"/>
              <a:t> </a:t>
            </a:r>
            <a:r>
              <a:rPr lang="en-US" b="1" dirty="0" err="1"/>
              <a:t>زبانی</a:t>
            </a:r>
            <a:r>
              <a:rPr lang="en-US" b="1" dirty="0"/>
              <a:t> </a:t>
            </a:r>
            <a:r>
              <a:rPr lang="en-US" b="1" dirty="0" err="1"/>
              <a:t>بزرگ</a:t>
            </a:r>
            <a:r>
              <a:rPr lang="en-US" b="1" dirty="0"/>
              <a:t> (LLM)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DB347-4ED5-4023-A314-BBC32CC3C4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81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BEE5-36ED-8620-B1DD-21DC21F6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0D133-27FE-B85D-8944-4DAE75E85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F1CA1-D886-E941-B267-C0DA4AA2B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95AA9-AD92-9C13-DE46-3D0F75687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DB347-4ED5-4023-A314-BBC32CC3C4D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60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BA3D-F10C-7827-AE10-7BDA4EE16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96AA2-7E48-8EDA-3B04-E40F7D0A0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455B8-F4F6-882A-1350-D70618790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53211-B8F1-D952-D2E0-30D864342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DB347-4ED5-4023-A314-BBC32CC3C4D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48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B3330-3793-D790-648D-60226922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D1319-5255-9A9E-099D-38ED0B1A8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7D585-F3D8-2E69-0BAE-8055E7712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A673A-2603-B734-AE3C-E6B9BFC60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DB347-4ED5-4023-A314-BBC32CC3C4D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05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A6ACA-7EAF-87BB-1B99-9211DA8F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39AF8-F8D9-08EC-0C78-0FC3D81C2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EC4A4-1FCF-7DE8-400A-27DE09D2A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FE0E6-D0C8-2BA0-74F8-6241C8663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DB347-4ED5-4023-A314-BBC32CC3C4D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5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DD9B-8B1A-BAEE-1F1A-B90FD23D4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71048-E1A1-ECE7-CE64-C57615A7B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AD664-AF2E-CEC0-EFA1-9A2E52AC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8B485-558B-5FEB-02BF-25F81304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9D78E-689B-1994-0DC1-1CF32B864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00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0971B-FD5E-8682-8E3B-25070C482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0C809-680A-7E61-5343-28EB8CEEA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59EE3-A737-ECDC-3619-EF44E5CB3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91341-FD15-300E-F2C1-3630E2A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FC03B-2719-A240-1E04-3324EB32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3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6EEA-A4FD-51EB-9C0F-7616A5E3A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CC556-2A02-9C56-5B2C-830032FD4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228F9-5D00-42F5-C433-825AB837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0501D-87C1-4EE4-0499-98007097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3543E-75C8-34FC-2A5D-D1AC2B14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9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330AB-D70E-EAB4-5144-B6884CB86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55584-C23E-B8F1-C85A-7602DDEE8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D01EC-BBC2-5CDD-D5B5-98A1E2A0F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E7667-48B6-3258-1AF9-EFDEAFD8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B0282-76A6-F9A8-681D-A0D6B7EB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5E7D2-C25F-3CE9-7DD3-E86B6CB7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07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08DE-BDD1-C9FB-ED94-23E5E73D9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17B85-FE6E-2DC1-2F55-27DC01B63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D40BB-1E2B-8F36-DC9F-BA8E71049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DA4CE-BAA9-A084-9D28-13081AC5F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BD3A6-AC33-5FF2-BC91-9A76C30D2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1B8C5-BB55-1F82-B242-620501A6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1989B4-CB42-278D-4C25-40F723DED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6078B-F8F0-814B-2982-6306C639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63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B1E9-E1A2-EE68-D70A-32E57684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2D871-5008-C55B-8125-C5F07EBC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F9317-58D1-1056-3438-5F028A823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E40CD-4192-A68E-4466-89443D699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8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DBB449-CEF5-B627-6FAE-7D91A6B99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6A10BC-99FB-4D51-B22F-9BD9EC4A2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401FE-542D-4FE5-2495-A0049AB79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82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497B-1F90-CC8F-0D22-FAC5BC10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A694-8E88-81A8-5DB0-B1DDB21BD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9266A-6F0E-A98B-A4F5-4AA50BC7F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FDAF3-5A15-A2A3-29C5-24C594F5F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963B8-177D-C419-1589-DFF8514C8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45D20-A3F4-3177-9C58-59F76790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8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BB2C-B288-46CF-D63A-12A36ED2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CD5A44-96BE-863D-7C0B-B6F466849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8B3D1-FA9B-3204-BA8E-3E3B37BB2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39407-97E7-5FB5-292E-8062DFE43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21364-EBB6-CA91-B037-39F6E4325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8A527-EB9D-B1E6-ABD5-B12D22C0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0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3685-55F4-8EAC-1F37-8002FBA1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78007-660A-F9F8-6FF8-0CC745054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DBF36-03AD-B58F-2F9B-5F45050F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7AC88-9A4B-AF16-876A-B4EB41BA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E7988-3C56-2438-AB22-573EBBA1E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5FE773-4D08-224A-5EA0-7A2D73059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E68B7-FD6A-DC6A-311D-37D4B797A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555D4-9DB6-336A-A2E6-17C43333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DAAFB-0D4E-B036-1DD9-A9A1F7FFB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26B4C-AB48-0FA5-765A-494AE944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2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E10D7-A5A6-5EF6-10FF-40BB958F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D6785-6B6F-F75E-9A4A-33099F0AA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ACEE-904C-28B2-320C-4FDA6D997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77F7F-820D-4006-918E-929B4BD88A0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11716-A381-73B7-0CCC-383005061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D571-ED8D-D627-6657-50BC319D6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D7EA6-3352-4972-9851-02DB9F8B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9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D007CE-800B-FBC7-8363-CFB3428FD583}"/>
              </a:ext>
            </a:extLst>
          </p:cNvPr>
          <p:cNvSpPr txBox="1"/>
          <p:nvPr/>
        </p:nvSpPr>
        <p:spPr>
          <a:xfrm>
            <a:off x="760458" y="631612"/>
            <a:ext cx="870739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rgbClr val="66FF99"/>
                </a:solidFill>
                <a:latin typeface="Consolas" panose="020B0609020204030204" pitchFamily="49" charset="0"/>
              </a:rPr>
              <a:t>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5FB44-9FE9-F7C2-BD42-1A23DD96FE4A}"/>
              </a:ext>
            </a:extLst>
          </p:cNvPr>
          <p:cNvSpPr txBox="1"/>
          <p:nvPr/>
        </p:nvSpPr>
        <p:spPr>
          <a:xfrm>
            <a:off x="760458" y="4454312"/>
            <a:ext cx="8707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Consolas" panose="020B0609020204030204" pitchFamily="49" charset="0"/>
              </a:rPr>
              <a:t>Artificial 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78E8D-9080-473C-3234-64B310452C82}"/>
              </a:ext>
            </a:extLst>
          </p:cNvPr>
          <p:cNvSpPr txBox="1"/>
          <p:nvPr/>
        </p:nvSpPr>
        <p:spPr>
          <a:xfrm>
            <a:off x="760458" y="5451262"/>
            <a:ext cx="8707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FARAN DAEMI</a:t>
            </a:r>
          </a:p>
        </p:txBody>
      </p:sp>
    </p:spTree>
    <p:extLst>
      <p:ext uri="{BB962C8B-B14F-4D97-AF65-F5344CB8AC3E}">
        <p14:creationId xmlns:p14="http://schemas.microsoft.com/office/powerpoint/2010/main" val="2988183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76799E-1253-34B1-2B42-F495F5028920}"/>
              </a:ext>
            </a:extLst>
          </p:cNvPr>
          <p:cNvSpPr txBox="1"/>
          <p:nvPr/>
        </p:nvSpPr>
        <p:spPr>
          <a:xfrm>
            <a:off x="805679" y="1223015"/>
            <a:ext cx="10580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Consolas" panose="020B0609020204030204" pitchFamily="49" charset="0"/>
              </a:rPr>
              <a:t>What comes to your mind?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4881B1-5764-4822-A5A2-57518DC4A378}"/>
              </a:ext>
            </a:extLst>
          </p:cNvPr>
          <p:cNvSpPr txBox="1"/>
          <p:nvPr/>
        </p:nvSpPr>
        <p:spPr>
          <a:xfrm>
            <a:off x="805679" y="1571412"/>
            <a:ext cx="870739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rgbClr val="66FF99"/>
                </a:solidFill>
                <a:latin typeface="Consolas" panose="020B0609020204030204" pitchFamily="49" charset="0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8231764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8C17F-2B09-B90A-0F37-E424078F7CC3}"/>
              </a:ext>
            </a:extLst>
          </p:cNvPr>
          <p:cNvSpPr txBox="1"/>
          <p:nvPr/>
        </p:nvSpPr>
        <p:spPr>
          <a:xfrm>
            <a:off x="901314" y="695112"/>
            <a:ext cx="103893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66FF99"/>
                </a:solidFill>
                <a:latin typeface="Consolas" panose="020B0609020204030204" pitchFamily="49" charset="0"/>
              </a:rPr>
              <a:t>Artificial Intelligence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95EED-5A72-48E9-4D18-80F278412781}"/>
              </a:ext>
            </a:extLst>
          </p:cNvPr>
          <p:cNvSpPr txBox="1"/>
          <p:nvPr/>
        </p:nvSpPr>
        <p:spPr>
          <a:xfrm>
            <a:off x="901314" y="1788165"/>
            <a:ext cx="10580642" cy="315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means any system that can do a task that normally requires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“human intelligence”</a:t>
            </a: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66FFFF"/>
                </a:solidFill>
                <a:latin typeface="Consolas" panose="020B0609020204030204" pitchFamily="49" charset="0"/>
              </a:rPr>
              <a:t>pattern recognition</a:t>
            </a: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3200" dirty="0">
                <a:solidFill>
                  <a:srgbClr val="66FFFF"/>
                </a:solidFill>
                <a:latin typeface="Consolas" panose="020B0609020204030204" pitchFamily="49" charset="0"/>
              </a:rPr>
              <a:t>decision-making</a:t>
            </a: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3200" dirty="0">
                <a:solidFill>
                  <a:srgbClr val="66FFFF"/>
                </a:solidFill>
                <a:latin typeface="Consolas" panose="020B0609020204030204" pitchFamily="49" charset="0"/>
              </a:rPr>
              <a:t>learning</a:t>
            </a: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66FFFF"/>
                </a:solidFill>
                <a:latin typeface="Consolas" panose="020B0609020204030204" pitchFamily="49" charset="0"/>
              </a:rPr>
              <a:t>from experience</a:t>
            </a: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3200" dirty="0">
                <a:solidFill>
                  <a:srgbClr val="66FFFF"/>
                </a:solidFill>
                <a:latin typeface="Consolas" panose="020B0609020204030204" pitchFamily="49" charset="0"/>
              </a:rPr>
              <a:t>understanding language</a:t>
            </a: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6059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B466060-D0E0-9396-21FA-66CB469A6081}"/>
              </a:ext>
            </a:extLst>
          </p:cNvPr>
          <p:cNvSpPr/>
          <p:nvPr/>
        </p:nvSpPr>
        <p:spPr>
          <a:xfrm>
            <a:off x="4749800" y="793750"/>
            <a:ext cx="7378700" cy="763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251E6A-9B07-8E1F-AF96-FC52CC1A6441}"/>
              </a:ext>
            </a:extLst>
          </p:cNvPr>
          <p:cNvSpPr/>
          <p:nvPr/>
        </p:nvSpPr>
        <p:spPr>
          <a:xfrm>
            <a:off x="5516627" y="1967974"/>
            <a:ext cx="5845046" cy="604625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F1690A-3962-2027-BA96-BD4B4D86A52C}"/>
              </a:ext>
            </a:extLst>
          </p:cNvPr>
          <p:cNvSpPr/>
          <p:nvPr/>
        </p:nvSpPr>
        <p:spPr>
          <a:xfrm>
            <a:off x="6267367" y="3366857"/>
            <a:ext cx="4343566" cy="449308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59E237-6691-8102-17F9-02C853C467AD}"/>
              </a:ext>
            </a:extLst>
          </p:cNvPr>
          <p:cNvSpPr/>
          <p:nvPr/>
        </p:nvSpPr>
        <p:spPr>
          <a:xfrm>
            <a:off x="6991295" y="4458784"/>
            <a:ext cx="2895710" cy="29953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C6F90-D535-14F2-F0EC-126477C30D23}"/>
              </a:ext>
            </a:extLst>
          </p:cNvPr>
          <p:cNvSpPr txBox="1"/>
          <p:nvPr/>
        </p:nvSpPr>
        <p:spPr>
          <a:xfrm>
            <a:off x="7554349" y="853034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181717"/>
                </a:solidFill>
                <a:latin typeface="Consolas" panose="020B0609020204030204" pitchFamily="49" charset="0"/>
              </a:rPr>
              <a:t>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20C12-9B3F-8574-ADBE-C4BA82A23498}"/>
              </a:ext>
            </a:extLst>
          </p:cNvPr>
          <p:cNvSpPr txBox="1"/>
          <p:nvPr/>
        </p:nvSpPr>
        <p:spPr>
          <a:xfrm>
            <a:off x="7554349" y="2156818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30EBA-8944-1B53-8A74-91B7495CD6D3}"/>
              </a:ext>
            </a:extLst>
          </p:cNvPr>
          <p:cNvSpPr txBox="1"/>
          <p:nvPr/>
        </p:nvSpPr>
        <p:spPr>
          <a:xfrm>
            <a:off x="7554349" y="3456174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DL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1786CA-4912-B6AC-997D-4F87593EF348}"/>
              </a:ext>
            </a:extLst>
          </p:cNvPr>
          <p:cNvSpPr txBox="1"/>
          <p:nvPr/>
        </p:nvSpPr>
        <p:spPr>
          <a:xfrm>
            <a:off x="7554349" y="5125482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LLM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8E4D3E-BB20-C699-1132-ACB42A7E2A23}"/>
              </a:ext>
            </a:extLst>
          </p:cNvPr>
          <p:cNvSpPr txBox="1"/>
          <p:nvPr/>
        </p:nvSpPr>
        <p:spPr>
          <a:xfrm>
            <a:off x="507614" y="609133"/>
            <a:ext cx="10389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66FF99"/>
                </a:solidFill>
                <a:latin typeface="Consolas" panose="020B0609020204030204" pitchFamily="49" charset="0"/>
              </a:rPr>
              <a:t>Artificial Intelligence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A26F26-BAEF-53AB-1FD5-4A2686A65FF1}"/>
              </a:ext>
            </a:extLst>
          </p:cNvPr>
          <p:cNvSpPr txBox="1"/>
          <p:nvPr/>
        </p:nvSpPr>
        <p:spPr>
          <a:xfrm>
            <a:off x="507614" y="1491522"/>
            <a:ext cx="10580642" cy="169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Machine Learning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Natural language processing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20704778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58AB0-0007-CFA7-E69D-FD1E13093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EE7DA00-36F6-DFCD-0F3E-01E72F8F28C0}"/>
              </a:ext>
            </a:extLst>
          </p:cNvPr>
          <p:cNvSpPr/>
          <p:nvPr/>
        </p:nvSpPr>
        <p:spPr>
          <a:xfrm>
            <a:off x="4749800" y="793750"/>
            <a:ext cx="7378700" cy="763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5D81094-62CE-1CDC-80C8-6B58AF16BFF5}"/>
              </a:ext>
            </a:extLst>
          </p:cNvPr>
          <p:cNvSpPr/>
          <p:nvPr/>
        </p:nvSpPr>
        <p:spPr>
          <a:xfrm>
            <a:off x="5516627" y="1967974"/>
            <a:ext cx="5845046" cy="604625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F96E516-C946-50F1-1E52-4D95EC17C5C8}"/>
              </a:ext>
            </a:extLst>
          </p:cNvPr>
          <p:cNvSpPr/>
          <p:nvPr/>
        </p:nvSpPr>
        <p:spPr>
          <a:xfrm>
            <a:off x="6267367" y="3366857"/>
            <a:ext cx="4343566" cy="449308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091540-1AD7-0335-907B-19B528345AD5}"/>
              </a:ext>
            </a:extLst>
          </p:cNvPr>
          <p:cNvSpPr/>
          <p:nvPr/>
        </p:nvSpPr>
        <p:spPr>
          <a:xfrm>
            <a:off x="6991295" y="4458784"/>
            <a:ext cx="2895710" cy="29953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EDBDCD-4726-CEF7-45D1-4789BCAC1E14}"/>
              </a:ext>
            </a:extLst>
          </p:cNvPr>
          <p:cNvSpPr txBox="1"/>
          <p:nvPr/>
        </p:nvSpPr>
        <p:spPr>
          <a:xfrm>
            <a:off x="7554349" y="853034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8438DC-D8D5-FB4B-26E1-5524C04A1462}"/>
              </a:ext>
            </a:extLst>
          </p:cNvPr>
          <p:cNvSpPr txBox="1"/>
          <p:nvPr/>
        </p:nvSpPr>
        <p:spPr>
          <a:xfrm>
            <a:off x="7554349" y="2156818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181717"/>
                </a:solidFill>
                <a:latin typeface="Consolas" panose="020B0609020204030204" pitchFamily="49" charset="0"/>
              </a:rPr>
              <a:t>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AAB60-94C1-AD8A-D9E8-FBE2FFB6DB6A}"/>
              </a:ext>
            </a:extLst>
          </p:cNvPr>
          <p:cNvSpPr txBox="1"/>
          <p:nvPr/>
        </p:nvSpPr>
        <p:spPr>
          <a:xfrm>
            <a:off x="7554349" y="3456174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DL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E9503-FACF-F2B1-0C20-1D4958CE7820}"/>
              </a:ext>
            </a:extLst>
          </p:cNvPr>
          <p:cNvSpPr txBox="1"/>
          <p:nvPr/>
        </p:nvSpPr>
        <p:spPr>
          <a:xfrm>
            <a:off x="7554349" y="5125482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LLM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49CE2F-C9A4-0500-3B2B-0B529A60CF07}"/>
              </a:ext>
            </a:extLst>
          </p:cNvPr>
          <p:cNvSpPr txBox="1"/>
          <p:nvPr/>
        </p:nvSpPr>
        <p:spPr>
          <a:xfrm>
            <a:off x="507614" y="609133"/>
            <a:ext cx="10389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66FF99"/>
                </a:solidFill>
                <a:latin typeface="Consolas" panose="020B0609020204030204" pitchFamily="49" charset="0"/>
              </a:rPr>
              <a:t>Machine 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A23F51-F10E-76D3-D49C-17A17E99E169}"/>
              </a:ext>
            </a:extLst>
          </p:cNvPr>
          <p:cNvSpPr txBox="1"/>
          <p:nvPr/>
        </p:nvSpPr>
        <p:spPr>
          <a:xfrm>
            <a:off x="507614" y="1491522"/>
            <a:ext cx="5308986" cy="224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A subset of AI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Supervised Learning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Unsupervised Learning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489928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F55DA-37FC-E230-4056-19B57941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0DBAED5-11DA-EF65-C174-DEC7DFA3428F}"/>
              </a:ext>
            </a:extLst>
          </p:cNvPr>
          <p:cNvSpPr/>
          <p:nvPr/>
        </p:nvSpPr>
        <p:spPr>
          <a:xfrm>
            <a:off x="4749800" y="793750"/>
            <a:ext cx="7378700" cy="763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A98EAC7-9E0A-822B-DE80-0DD607A2643B}"/>
              </a:ext>
            </a:extLst>
          </p:cNvPr>
          <p:cNvSpPr/>
          <p:nvPr/>
        </p:nvSpPr>
        <p:spPr>
          <a:xfrm>
            <a:off x="5516627" y="1967974"/>
            <a:ext cx="5845046" cy="604625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B357C1-64BC-D251-933D-C8A7C78CF0D8}"/>
              </a:ext>
            </a:extLst>
          </p:cNvPr>
          <p:cNvSpPr/>
          <p:nvPr/>
        </p:nvSpPr>
        <p:spPr>
          <a:xfrm>
            <a:off x="6267367" y="3366857"/>
            <a:ext cx="4343566" cy="449308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63D854-425B-0D83-B6D0-456F3E35E5B8}"/>
              </a:ext>
            </a:extLst>
          </p:cNvPr>
          <p:cNvSpPr/>
          <p:nvPr/>
        </p:nvSpPr>
        <p:spPr>
          <a:xfrm>
            <a:off x="6991295" y="4458784"/>
            <a:ext cx="2895710" cy="29953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A445CE-18C5-0DE9-D3C5-AC16CD133BBE}"/>
              </a:ext>
            </a:extLst>
          </p:cNvPr>
          <p:cNvSpPr txBox="1"/>
          <p:nvPr/>
        </p:nvSpPr>
        <p:spPr>
          <a:xfrm>
            <a:off x="7554349" y="853034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43364A-AD07-AE74-B4A1-3DCFAC8A7116}"/>
              </a:ext>
            </a:extLst>
          </p:cNvPr>
          <p:cNvSpPr txBox="1"/>
          <p:nvPr/>
        </p:nvSpPr>
        <p:spPr>
          <a:xfrm>
            <a:off x="7554349" y="2156818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ECF3BE-EBA8-4CB9-8FEE-6BD16B31E76A}"/>
              </a:ext>
            </a:extLst>
          </p:cNvPr>
          <p:cNvSpPr txBox="1"/>
          <p:nvPr/>
        </p:nvSpPr>
        <p:spPr>
          <a:xfrm>
            <a:off x="7554349" y="3456174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181717"/>
                </a:solidFill>
                <a:latin typeface="Consolas" panose="020B0609020204030204" pitchFamily="49" charset="0"/>
              </a:rPr>
              <a:t>DL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1C24F4-8A5C-59B8-76B4-E974A1325993}"/>
              </a:ext>
            </a:extLst>
          </p:cNvPr>
          <p:cNvSpPr txBox="1"/>
          <p:nvPr/>
        </p:nvSpPr>
        <p:spPr>
          <a:xfrm>
            <a:off x="7554349" y="5125482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LLM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61C30-141C-C07B-FE7F-1BCA78C7296E}"/>
              </a:ext>
            </a:extLst>
          </p:cNvPr>
          <p:cNvSpPr txBox="1"/>
          <p:nvPr/>
        </p:nvSpPr>
        <p:spPr>
          <a:xfrm>
            <a:off x="507614" y="609133"/>
            <a:ext cx="10389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66FF99"/>
                </a:solidFill>
                <a:latin typeface="Consolas" panose="020B0609020204030204" pitchFamily="49" charset="0"/>
              </a:rPr>
              <a:t>Deep 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9FD4C3-719B-1A1A-3718-38B22F1DF948}"/>
              </a:ext>
            </a:extLst>
          </p:cNvPr>
          <p:cNvSpPr txBox="1"/>
          <p:nvPr/>
        </p:nvSpPr>
        <p:spPr>
          <a:xfrm>
            <a:off x="507614" y="1491522"/>
            <a:ext cx="5308986" cy="224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A subset of ML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Convolutional Neural Network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Recurrent Neural Network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Transformer</a:t>
            </a:r>
          </a:p>
        </p:txBody>
      </p:sp>
    </p:spTree>
    <p:extLst>
      <p:ext uri="{BB962C8B-B14F-4D97-AF65-F5344CB8AC3E}">
        <p14:creationId xmlns:p14="http://schemas.microsoft.com/office/powerpoint/2010/main" val="40686627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088AE-8E3E-C72A-3AC1-77E5630D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9FD7BD3-92C0-6437-1303-180F0738D5E4}"/>
              </a:ext>
            </a:extLst>
          </p:cNvPr>
          <p:cNvSpPr/>
          <p:nvPr/>
        </p:nvSpPr>
        <p:spPr>
          <a:xfrm>
            <a:off x="4749800" y="793750"/>
            <a:ext cx="7378700" cy="763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21130AB-0337-6F7B-A2FC-8D3810920D33}"/>
              </a:ext>
            </a:extLst>
          </p:cNvPr>
          <p:cNvSpPr/>
          <p:nvPr/>
        </p:nvSpPr>
        <p:spPr>
          <a:xfrm>
            <a:off x="5516627" y="1967974"/>
            <a:ext cx="5845046" cy="604625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6696C2-2F76-3888-FB72-FBBFB0B6D72C}"/>
              </a:ext>
            </a:extLst>
          </p:cNvPr>
          <p:cNvSpPr/>
          <p:nvPr/>
        </p:nvSpPr>
        <p:spPr>
          <a:xfrm>
            <a:off x="6267367" y="3366857"/>
            <a:ext cx="4343566" cy="449308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B112F8-A75C-790D-C7A0-34F06DF5B923}"/>
              </a:ext>
            </a:extLst>
          </p:cNvPr>
          <p:cNvSpPr/>
          <p:nvPr/>
        </p:nvSpPr>
        <p:spPr>
          <a:xfrm>
            <a:off x="6991295" y="4458784"/>
            <a:ext cx="2895710" cy="29953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8F100-EEC9-853E-52D7-98CF5F689ABB}"/>
              </a:ext>
            </a:extLst>
          </p:cNvPr>
          <p:cNvSpPr txBox="1"/>
          <p:nvPr/>
        </p:nvSpPr>
        <p:spPr>
          <a:xfrm>
            <a:off x="7554349" y="853034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37006-A373-B866-42FE-6231D94D17B4}"/>
              </a:ext>
            </a:extLst>
          </p:cNvPr>
          <p:cNvSpPr txBox="1"/>
          <p:nvPr/>
        </p:nvSpPr>
        <p:spPr>
          <a:xfrm>
            <a:off x="7554349" y="2156818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61327B-B9C9-707E-0B72-A8068CC7D14D}"/>
              </a:ext>
            </a:extLst>
          </p:cNvPr>
          <p:cNvSpPr txBox="1"/>
          <p:nvPr/>
        </p:nvSpPr>
        <p:spPr>
          <a:xfrm>
            <a:off x="7554349" y="3456174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onsolas" panose="020B0609020204030204" pitchFamily="49" charset="0"/>
              </a:rPr>
              <a:t>DL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687E0-3396-58CD-47E7-CE0C77387D7B}"/>
              </a:ext>
            </a:extLst>
          </p:cNvPr>
          <p:cNvSpPr txBox="1"/>
          <p:nvPr/>
        </p:nvSpPr>
        <p:spPr>
          <a:xfrm>
            <a:off x="7554349" y="5125482"/>
            <a:ext cx="1769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181717"/>
                </a:solidFill>
                <a:latin typeface="Consolas" panose="020B0609020204030204" pitchFamily="49" charset="0"/>
              </a:rPr>
              <a:t>LLM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B69BA8-BE2D-1A82-77F3-7A00F9DF054A}"/>
              </a:ext>
            </a:extLst>
          </p:cNvPr>
          <p:cNvSpPr txBox="1"/>
          <p:nvPr/>
        </p:nvSpPr>
        <p:spPr>
          <a:xfrm>
            <a:off x="507614" y="609133"/>
            <a:ext cx="10389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66FF99"/>
                </a:solidFill>
                <a:latin typeface="Consolas" panose="020B0609020204030204" pitchFamily="49" charset="0"/>
              </a:rPr>
              <a:t>Large Language Models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FB4A86-14DA-5DCA-690E-3B1188CF8A25}"/>
              </a:ext>
            </a:extLst>
          </p:cNvPr>
          <p:cNvSpPr txBox="1"/>
          <p:nvPr/>
        </p:nvSpPr>
        <p:spPr>
          <a:xfrm>
            <a:off x="507614" y="1491522"/>
            <a:ext cx="5308986" cy="169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A subset of ML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ChatGPT, Claude, BERT, etc.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Trained on enormous datasets</a:t>
            </a:r>
          </a:p>
        </p:txBody>
      </p:sp>
    </p:spTree>
    <p:extLst>
      <p:ext uri="{BB962C8B-B14F-4D97-AF65-F5344CB8AC3E}">
        <p14:creationId xmlns:p14="http://schemas.microsoft.com/office/powerpoint/2010/main" val="4039470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813782-E2DD-9580-52DA-1B77F76C4562}"/>
              </a:ext>
            </a:extLst>
          </p:cNvPr>
          <p:cNvSpPr txBox="1"/>
          <p:nvPr/>
        </p:nvSpPr>
        <p:spPr>
          <a:xfrm>
            <a:off x="507614" y="609133"/>
            <a:ext cx="10389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66FF99"/>
                </a:solidFill>
                <a:latin typeface="Consolas" panose="020B0609020204030204" pitchFamily="49" charset="0"/>
              </a:rPr>
              <a:t>Text / conversational models (LLM)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D7127-7A51-C17F-4C98-BC00E26D50FA}"/>
              </a:ext>
            </a:extLst>
          </p:cNvPr>
          <p:cNvSpPr txBox="1"/>
          <p:nvPr/>
        </p:nvSpPr>
        <p:spPr>
          <a:xfrm>
            <a:off x="507614" y="1491522"/>
            <a:ext cx="10722936" cy="4418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GPT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66FFFF"/>
                </a:solidFill>
                <a:latin typeface="Consolas" panose="020B0609020204030204" pitchFamily="49" charset="0"/>
              </a:rPr>
              <a:t>OpenAI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 — the most famous and most widely used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Claude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66FFFF"/>
                </a:solidFill>
                <a:latin typeface="Consolas" panose="020B0609020204030204" pitchFamily="49" charset="0"/>
              </a:rPr>
              <a:t>Anthropic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 — focus on safety and reasoning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Gemini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66FFFF"/>
                </a:solidFill>
                <a:latin typeface="Consolas" panose="020B0609020204030204" pitchFamily="49" charset="0"/>
              </a:rPr>
              <a:t>Google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 — integrated with the Google ecosystem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LLaMA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66FFFF"/>
                </a:solidFill>
                <a:latin typeface="Consolas" panose="020B0609020204030204" pitchFamily="49" charset="0"/>
              </a:rPr>
              <a:t>Meta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 — open source, the basis of many local/customized models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DeepSeek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/ Qwen — powerful open-source examples from China</a:t>
            </a:r>
          </a:p>
        </p:txBody>
      </p:sp>
    </p:spTree>
    <p:extLst>
      <p:ext uri="{BB962C8B-B14F-4D97-AF65-F5344CB8AC3E}">
        <p14:creationId xmlns:p14="http://schemas.microsoft.com/office/powerpoint/2010/main" val="2837625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AEBD2-E202-577D-D4A8-6A772C0B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D77D1C-4F61-FBB2-EA66-B6870BB3CE55}"/>
              </a:ext>
            </a:extLst>
          </p:cNvPr>
          <p:cNvSpPr txBox="1"/>
          <p:nvPr/>
        </p:nvSpPr>
        <p:spPr>
          <a:xfrm>
            <a:off x="507614" y="609133"/>
            <a:ext cx="10389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66FF99"/>
                </a:solidFill>
                <a:latin typeface="Consolas" panose="020B0609020204030204" pitchFamily="49" charset="0"/>
              </a:rPr>
              <a:t>Image generation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E3EFA-F492-3905-5B9F-A7643F07AF89}"/>
              </a:ext>
            </a:extLst>
          </p:cNvPr>
          <p:cNvSpPr txBox="1"/>
          <p:nvPr/>
        </p:nvSpPr>
        <p:spPr>
          <a:xfrm>
            <a:off x="507614" y="1491522"/>
            <a:ext cx="6436029" cy="3449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6FFFF"/>
                </a:solidFill>
                <a:latin typeface="Consolas" panose="020B0609020204030204" pitchFamily="49" charset="0"/>
              </a:rPr>
              <a:t>DALL·E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(OpenAI), </a:t>
            </a:r>
            <a:r>
              <a:rPr lang="en-US" sz="2400" b="1" dirty="0">
                <a:solidFill>
                  <a:srgbClr val="66FFFF"/>
                </a:solidFill>
                <a:latin typeface="Consolas" panose="020B0609020204030204" pitchFamily="49" charset="0"/>
              </a:rPr>
              <a:t>Midjourney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66FFFF"/>
                </a:solidFill>
                <a:latin typeface="Consolas" panose="020B0609020204030204" pitchFamily="49" charset="0"/>
              </a:rPr>
              <a:t>Stable Diffusion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— generating images from a text description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Applications: design, advertising, rapid concept development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AC8FF8-1137-AA2C-540F-9B065E13A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655" y="1193908"/>
            <a:ext cx="4817477" cy="481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586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AB0E-2001-0D91-CF51-A9F3A9F4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5BE19-F5A0-748F-E996-3949E4C52384}"/>
              </a:ext>
            </a:extLst>
          </p:cNvPr>
          <p:cNvSpPr txBox="1"/>
          <p:nvPr/>
        </p:nvSpPr>
        <p:spPr>
          <a:xfrm>
            <a:off x="507614" y="609133"/>
            <a:ext cx="10389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66FF99"/>
                </a:solidFill>
                <a:latin typeface="Consolas" panose="020B0609020204030204" pitchFamily="49" charset="0"/>
              </a:rPr>
              <a:t>Video generation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995E6-EE3D-FF1B-664B-CCBB442A07D8}"/>
              </a:ext>
            </a:extLst>
          </p:cNvPr>
          <p:cNvSpPr txBox="1"/>
          <p:nvPr/>
        </p:nvSpPr>
        <p:spPr>
          <a:xfrm>
            <a:off x="507614" y="1491522"/>
            <a:ext cx="10722936" cy="1141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6FFFF"/>
                </a:solidFill>
                <a:latin typeface="Consolas" panose="020B0609020204030204" pitchFamily="49" charset="0"/>
              </a:rPr>
              <a:t>Sora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(OpenAI), </a:t>
            </a:r>
            <a:r>
              <a:rPr lang="en-US" sz="2400" b="1" dirty="0">
                <a:solidFill>
                  <a:srgbClr val="66FFFF"/>
                </a:solidFill>
                <a:latin typeface="Consolas" panose="020B0609020204030204" pitchFamily="49" charset="0"/>
              </a:rPr>
              <a:t>Runway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66FFFF"/>
                </a:solidFill>
                <a:latin typeface="Consolas" panose="020B0609020204030204" pitchFamily="49" charset="0"/>
              </a:rPr>
              <a:t>Veo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(Google) — generating short videos from text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videoplayback">
            <a:hlinkClick r:id="" action="ppaction://media"/>
            <a:extLst>
              <a:ext uri="{FF2B5EF4-FFF2-40B4-BE49-F238E27FC236}">
                <a16:creationId xmlns:a16="http://schemas.microsoft.com/office/drawing/2014/main" id="{C99663C0-8E02-3D2E-B37F-AE25D561A5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76746" y="2816240"/>
            <a:ext cx="6638508" cy="373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47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35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AB0E-2001-0D91-CF51-A9F3A9F4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5BE19-F5A0-748F-E996-3949E4C52384}"/>
              </a:ext>
            </a:extLst>
          </p:cNvPr>
          <p:cNvSpPr txBox="1"/>
          <p:nvPr/>
        </p:nvSpPr>
        <p:spPr>
          <a:xfrm>
            <a:off x="507614" y="609133"/>
            <a:ext cx="10389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66FF99"/>
                </a:solidFill>
                <a:latin typeface="Consolas" panose="020B0609020204030204" pitchFamily="49" charset="0"/>
              </a:rPr>
              <a:t>Audio models</a:t>
            </a:r>
            <a:endParaRPr lang="en-US" sz="3200" b="1" dirty="0">
              <a:solidFill>
                <a:srgbClr val="66FF99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995E6-EE3D-FF1B-664B-CCBB442A07D8}"/>
              </a:ext>
            </a:extLst>
          </p:cNvPr>
          <p:cNvSpPr txBox="1"/>
          <p:nvPr/>
        </p:nvSpPr>
        <p:spPr>
          <a:xfrm>
            <a:off x="507614" y="1491522"/>
            <a:ext cx="5347085" cy="3357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6FFFF"/>
                </a:solidFill>
                <a:latin typeface="Consolas" panose="020B0609020204030204" pitchFamily="49" charset="0"/>
              </a:rPr>
              <a:t>Whisper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(OpenAI) — speech-to-text conversion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66FFFF"/>
                </a:solidFill>
                <a:latin typeface="Consolas" panose="020B0609020204030204" pitchFamily="49" charset="0"/>
              </a:rPr>
              <a:t>ElevenLabs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— natural voice generation from text (Text-to-Speech)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6FFFF"/>
                </a:solidFill>
                <a:latin typeface="Consolas" panose="020B0609020204030204" pitchFamily="49" charset="0"/>
              </a:rPr>
              <a:t>Suno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– generate Music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AI Class Drift">
            <a:hlinkClick r:id="" action="ppaction://media"/>
            <a:extLst>
              <a:ext uri="{FF2B5EF4-FFF2-40B4-BE49-F238E27FC236}">
                <a16:creationId xmlns:a16="http://schemas.microsoft.com/office/drawing/2014/main" id="{75895D48-F8F2-B7B6-4F59-8F3867E350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6309" y="4993745"/>
            <a:ext cx="304800" cy="30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9277BB-BB31-DA06-2489-88A7419F352B}"/>
              </a:ext>
            </a:extLst>
          </p:cNvPr>
          <p:cNvSpPr txBox="1"/>
          <p:nvPr/>
        </p:nvSpPr>
        <p:spPr>
          <a:xfrm>
            <a:off x="6202669" y="1636736"/>
            <a:ext cx="5347085" cy="3298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66FFFF"/>
                </a:solidFill>
              </a:rPr>
              <a:t>[Verse 1]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This is AI class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I came here to learn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You write the rules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Then watch me return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Machine Learning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On my notebook page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Deep Learning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Got me turning the gauge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66FFFF"/>
                </a:solidFill>
              </a:rPr>
              <a:t>[Pre-Chorus]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One more pass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Let it click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Patterns rise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Fast and thick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Say it plain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Let it land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LLM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In my hand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66FFFF"/>
                </a:solidFill>
              </a:rPr>
              <a:t>[Chorus]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AI class, AI class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I’m learning fast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Machine Learning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Deep Learning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LLM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That’s the path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AI class, AI class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I’m locked in now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Machine Learning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Deep Learning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LLM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Watch me now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66FFFF"/>
                </a:solidFill>
              </a:rPr>
              <a:t>[Verse 2]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Small batch steps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Big sky mind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Data in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And truth combined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Every model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Takes a swing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Every lesson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Makes me sing </a:t>
            </a:r>
          </a:p>
          <a:p>
            <a:pPr>
              <a:lnSpc>
                <a:spcPct val="150000"/>
              </a:lnSpc>
            </a:pPr>
            <a:endParaRPr lang="en-US" sz="28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66FFFF"/>
                </a:solidFill>
              </a:rPr>
              <a:t>[Pre-Chorus]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One more pass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Let it click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Patterns rise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Fast and thick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Say it plain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Let it land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LLM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In my hand </a:t>
            </a:r>
          </a:p>
          <a:p>
            <a:pPr>
              <a:lnSpc>
                <a:spcPct val="150000"/>
              </a:lnSpc>
            </a:pP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3463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5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1.30602 L -0.02929 -5.31157 " pathEditMode="relative" rAng="0" ptsTypes="AA">
                                      <p:cBhvr>
                                        <p:cTn id="8" dur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6" y="-33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7BDD6-A786-5A09-8C6D-FCB9AF8C3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CE1E30-25E8-6157-7E22-1519F5BF7033}"/>
              </a:ext>
            </a:extLst>
          </p:cNvPr>
          <p:cNvSpPr txBox="1"/>
          <p:nvPr/>
        </p:nvSpPr>
        <p:spPr>
          <a:xfrm>
            <a:off x="507614" y="609133"/>
            <a:ext cx="10389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66FF99"/>
                </a:solidFill>
                <a:latin typeface="Consolas" panose="020B0609020204030204" pitchFamily="49" charset="0"/>
              </a:rPr>
              <a:t>Computer vision models</a:t>
            </a:r>
            <a:endParaRPr lang="en-US" sz="3200" b="1" dirty="0">
              <a:solidFill>
                <a:srgbClr val="66FF99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BA4D0-C70E-F2E2-24D2-47AB1FAB744C}"/>
              </a:ext>
            </a:extLst>
          </p:cNvPr>
          <p:cNvSpPr txBox="1"/>
          <p:nvPr/>
        </p:nvSpPr>
        <p:spPr>
          <a:xfrm>
            <a:off x="507614" y="1491522"/>
            <a:ext cx="10160386" cy="2803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66FFFF"/>
                </a:solidFill>
                <a:latin typeface="Consolas" panose="020B0609020204030204" pitchFamily="49" charset="0"/>
              </a:rPr>
              <a:t>YOLO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— real-time object detection and localization in images/video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66FFFF"/>
                </a:solidFill>
                <a:latin typeface="Consolas" panose="020B0609020204030204" pitchFamily="49" charset="0"/>
              </a:rPr>
              <a:t>ResNet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66FFFF"/>
                </a:solidFill>
                <a:latin typeface="Consolas" panose="020B0609020204030204" pitchFamily="49" charset="0"/>
              </a:rPr>
              <a:t>EfficientNet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— image classification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Applications in robotics and industry: part detection, quality control, robot navigation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579EF-3324-FDAF-CEC2-F029C21358FB}"/>
              </a:ext>
            </a:extLst>
          </p:cNvPr>
          <p:cNvSpPr txBox="1"/>
          <p:nvPr/>
        </p:nvSpPr>
        <p:spPr>
          <a:xfrm>
            <a:off x="1146629" y="5465020"/>
            <a:ext cx="9898742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yolo</a:t>
            </a:r>
            <a:r>
              <a:rPr lang="en-US" sz="2800" dirty="0">
                <a:solidFill>
                  <a:srgbClr val="66FFFF"/>
                </a:solidFill>
                <a:latin typeface="Consolas" panose="020B0609020204030204" pitchFamily="49" charset="0"/>
              </a:rPr>
              <a:t> predict model=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yolov8n.pt</a:t>
            </a:r>
            <a:r>
              <a:rPr lang="en-US" sz="2800" dirty="0">
                <a:solidFill>
                  <a:srgbClr val="66FFFF"/>
                </a:solidFill>
                <a:latin typeface="Consolas" panose="020B0609020204030204" pitchFamily="49" charset="0"/>
              </a:rPr>
              <a:t> source=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66FFFF"/>
                </a:solidFill>
                <a:latin typeface="Consolas" panose="020B0609020204030204" pitchFamily="49" charset="0"/>
              </a:rPr>
              <a:t> show=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586288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20D4-0E95-57B4-A008-93835865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CBBA9B-0140-1823-48C2-9FF8B024521D}"/>
              </a:ext>
            </a:extLst>
          </p:cNvPr>
          <p:cNvSpPr txBox="1"/>
          <p:nvPr/>
        </p:nvSpPr>
        <p:spPr>
          <a:xfrm>
            <a:off x="760458" y="631612"/>
            <a:ext cx="870739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rgbClr val="66FF99"/>
                </a:solidFill>
                <a:latin typeface="Consolas" panose="020B0609020204030204" pitchFamily="49" charset="0"/>
              </a:rPr>
              <a:t>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DE036-A139-9FF5-97D2-7CA5C7F169B2}"/>
              </a:ext>
            </a:extLst>
          </p:cNvPr>
          <p:cNvSpPr txBox="1"/>
          <p:nvPr/>
        </p:nvSpPr>
        <p:spPr>
          <a:xfrm>
            <a:off x="760458" y="4454312"/>
            <a:ext cx="8707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Consolas" panose="020B0609020204030204" pitchFamily="49" charset="0"/>
              </a:rPr>
              <a:t>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3689A-14CA-BCB3-1C41-AF9B06C23500}"/>
              </a:ext>
            </a:extLst>
          </p:cNvPr>
          <p:cNvSpPr txBox="1"/>
          <p:nvPr/>
        </p:nvSpPr>
        <p:spPr>
          <a:xfrm>
            <a:off x="760458" y="5451262"/>
            <a:ext cx="8707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FARAN DAEMI</a:t>
            </a:r>
          </a:p>
        </p:txBody>
      </p:sp>
    </p:spTree>
    <p:extLst>
      <p:ext uri="{BB962C8B-B14F-4D97-AF65-F5344CB8AC3E}">
        <p14:creationId xmlns:p14="http://schemas.microsoft.com/office/powerpoint/2010/main" val="18964264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2EA3B-26C0-0D96-6BE5-3CEB3B76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C9FC9C-70B7-0385-FA05-CB4FF0C7F466}"/>
              </a:ext>
            </a:extLst>
          </p:cNvPr>
          <p:cNvSpPr txBox="1"/>
          <p:nvPr/>
        </p:nvSpPr>
        <p:spPr>
          <a:xfrm>
            <a:off x="901314" y="695112"/>
            <a:ext cx="10389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66FF99"/>
                </a:solidFill>
                <a:latin typeface="Consolas" panose="020B0609020204030204" pitchFamily="49" charset="0"/>
              </a:rPr>
              <a:t>Supervised vs. Unsupervised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D4B08-CE58-BEF1-DF9F-321EF77B1E3C}"/>
              </a:ext>
            </a:extLst>
          </p:cNvPr>
          <p:cNvSpPr txBox="1"/>
          <p:nvPr/>
        </p:nvSpPr>
        <p:spPr>
          <a:xfrm>
            <a:off x="901314" y="1788165"/>
            <a:ext cx="1058064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Supervised: </a:t>
            </a:r>
          </a:p>
          <a:p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the data is labeled (input + correct answer) — the model learns to predict the answer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Unsupervised: </a:t>
            </a:r>
          </a:p>
          <a:p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the data has no labels — the model finds patterns/structure on its own</a:t>
            </a:r>
          </a:p>
        </p:txBody>
      </p:sp>
    </p:spTree>
    <p:extLst>
      <p:ext uri="{BB962C8B-B14F-4D97-AF65-F5344CB8AC3E}">
        <p14:creationId xmlns:p14="http://schemas.microsoft.com/office/powerpoint/2010/main" val="9779700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55D41-1BE1-0092-A19C-4E64ABB7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1B636F-361D-7E04-9925-CAA19C0AB27B}"/>
              </a:ext>
            </a:extLst>
          </p:cNvPr>
          <p:cNvSpPr txBox="1"/>
          <p:nvPr/>
        </p:nvSpPr>
        <p:spPr>
          <a:xfrm>
            <a:off x="901314" y="695112"/>
            <a:ext cx="10389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66FF99"/>
                </a:solidFill>
                <a:latin typeface="Consolas" panose="020B0609020204030204" pitchFamily="49" charset="0"/>
              </a:rPr>
              <a:t>Regression</a:t>
            </a:r>
            <a:endParaRPr lang="en-US" sz="4000" b="1" dirty="0">
              <a:solidFill>
                <a:srgbClr val="66FF99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91DFB-D60E-4D9C-F4A7-6253874F4304}"/>
              </a:ext>
            </a:extLst>
          </p:cNvPr>
          <p:cNvSpPr txBox="1"/>
          <p:nvPr/>
        </p:nvSpPr>
        <p:spPr>
          <a:xfrm>
            <a:off x="901314" y="1788165"/>
            <a:ext cx="10580642" cy="4547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Definition: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predicting a continuous number (not a category)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Concrete example: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predicting house prices based on area, number of rooms, location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2867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8E429-DF4D-F406-8368-117267200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48AA8B-1C72-60BE-2D7F-6FF2E1BCBBB2}"/>
              </a:ext>
            </a:extLst>
          </p:cNvPr>
          <p:cNvSpPr txBox="1"/>
          <p:nvPr/>
        </p:nvSpPr>
        <p:spPr>
          <a:xfrm>
            <a:off x="901314" y="695112"/>
            <a:ext cx="10389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66FF99"/>
                </a:solidFill>
                <a:latin typeface="Consolas" panose="020B0609020204030204" pitchFamily="49" charset="0"/>
              </a:rPr>
              <a:t>Classification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1B8DC-1A60-294B-2E8E-67A96CCF29C5}"/>
              </a:ext>
            </a:extLst>
          </p:cNvPr>
          <p:cNvSpPr txBox="1"/>
          <p:nvPr/>
        </p:nvSpPr>
        <p:spPr>
          <a:xfrm>
            <a:off x="901314" y="1788165"/>
            <a:ext cx="10580642" cy="4547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Definition: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predicting a category/label from among several predetermined options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Examples: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detecting whether an email is spam,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recognizing the type of flower in an image</a:t>
            </a:r>
          </a:p>
        </p:txBody>
      </p:sp>
    </p:spTree>
    <p:extLst>
      <p:ext uri="{BB962C8B-B14F-4D97-AF65-F5344CB8AC3E}">
        <p14:creationId xmlns:p14="http://schemas.microsoft.com/office/powerpoint/2010/main" val="3900524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3FD19-A590-763F-B078-6B6567AE6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5BDDD0-5E9F-D3EE-CF6E-0CC8C0E2D7F5}"/>
              </a:ext>
            </a:extLst>
          </p:cNvPr>
          <p:cNvSpPr txBox="1"/>
          <p:nvPr/>
        </p:nvSpPr>
        <p:spPr>
          <a:xfrm>
            <a:off x="901314" y="695112"/>
            <a:ext cx="10389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66FF99"/>
                </a:solidFill>
                <a:latin typeface="Consolas" panose="020B0609020204030204" pitchFamily="49" charset="0"/>
              </a:rPr>
              <a:t>Clustering</a:t>
            </a:r>
            <a:endParaRPr lang="en-US" sz="4000" b="1" dirty="0">
              <a:solidFill>
                <a:srgbClr val="66FF99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36DE6F-E0AE-33D4-60A8-0517754932F1}"/>
              </a:ext>
            </a:extLst>
          </p:cNvPr>
          <p:cNvSpPr txBox="1"/>
          <p:nvPr/>
        </p:nvSpPr>
        <p:spPr>
          <a:xfrm>
            <a:off x="901314" y="1461594"/>
            <a:ext cx="10580642" cy="519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Definition: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unsupervised learning — grouping similar data without having labels beforehand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Concrete example: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grouping a store’s customers based on their purchasing behavior, without knowing in advance how many groups exist</a:t>
            </a:r>
          </a:p>
        </p:txBody>
      </p:sp>
    </p:spTree>
    <p:extLst>
      <p:ext uri="{BB962C8B-B14F-4D97-AF65-F5344CB8AC3E}">
        <p14:creationId xmlns:p14="http://schemas.microsoft.com/office/powerpoint/2010/main" val="2088096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09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3858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669</Words>
  <Application>Microsoft Office PowerPoint</Application>
  <PresentationFormat>Widescreen</PresentationFormat>
  <Paragraphs>147</Paragraphs>
  <Slides>19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daemi</dc:creator>
  <cp:lastModifiedBy>farhan daemi</cp:lastModifiedBy>
  <cp:revision>39</cp:revision>
  <dcterms:created xsi:type="dcterms:W3CDTF">2026-08-15T19:24:38Z</dcterms:created>
  <dcterms:modified xsi:type="dcterms:W3CDTF">2026-08-15T21:40:04Z</dcterms:modified>
</cp:coreProperties>
</file>